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28090"/>
                </a:solidFill>
                <a:latin typeface="Calibri"/>
              </a:defRPr>
            </a:pPr>
            <a:r>
              <a:t>Value Cognition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38BDF8"/>
                </a:solidFill>
                <a:latin typeface="Calibri"/>
              </a:defRPr>
            </a:pPr>
            <a:r>
              <a:t>×  Minimum Viable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Three Layers of Value for Agentic AI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Terry Roach  ·  Eric Broda  ·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Architecture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47472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4A3B8"/>
                </a:solidFill>
                <a:latin typeface="Calibri"/>
              </a:defRPr>
            </a:pPr>
            <a:r>
              <a:t>Trust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280160"/>
            <a:ext cx="3474720" cy="4572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VCC Scaffold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280160"/>
            <a:ext cx="347472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Calibri"/>
              </a:defRPr>
            </a:pPr>
            <a:r>
              <a:t>MVC Components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34747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onsolas"/>
              </a:defRPr>
            </a:pPr>
            <a:r>
              <a:t>L5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920240"/>
            <a:ext cx="3474720" cy="8229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057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5F46"/>
                </a:solidFill>
                <a:latin typeface="Calibri"/>
              </a:defRPr>
            </a:pPr>
            <a:r>
              <a:t>Activity Chain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1920240"/>
            <a:ext cx="3474720" cy="8229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057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40AF"/>
                </a:solidFill>
                <a:latin typeface="Calibri"/>
              </a:defRPr>
            </a:pPr>
            <a:r>
              <a:t>Context Compiler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0574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17520"/>
            <a:ext cx="34747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108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onsolas"/>
              </a:defRPr>
            </a:pPr>
            <a:r>
              <a:t>L4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3017520"/>
            <a:ext cx="3474720" cy="8229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154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5F46"/>
                </a:solidFill>
                <a:latin typeface="Calibri"/>
              </a:defRPr>
            </a:pPr>
            <a:r>
              <a:t>Capabilities + PPIT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3017520"/>
            <a:ext cx="3474720" cy="8229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3154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40AF"/>
                </a:solidFill>
                <a:latin typeface="Calibri"/>
              </a:defRPr>
            </a:pPr>
            <a:r>
              <a:t>Concept Cards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1546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114800"/>
            <a:ext cx="34747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206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onsolas"/>
              </a:defRPr>
            </a:pPr>
            <a:r>
              <a:t>L3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4114800"/>
            <a:ext cx="3474720" cy="8229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42519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5F46"/>
                </a:solidFill>
                <a:latin typeface="Calibri"/>
              </a:defRPr>
            </a:pPr>
            <a:r>
              <a:t>Controls + Deontic Logic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4114800"/>
            <a:ext cx="3474720" cy="8229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42519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40AF"/>
                </a:solidFill>
                <a:latin typeface="Calibri"/>
              </a:defRPr>
            </a:pPr>
            <a:r>
              <a:t>Policy Cards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42519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212079"/>
            <a:ext cx="34747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30351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onsolas"/>
              </a:defRPr>
            </a:pPr>
            <a:r>
              <a:t>L2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5212079"/>
            <a:ext cx="3474720" cy="8229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534923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5F46"/>
                </a:solidFill>
                <a:latin typeface="Calibri"/>
              </a:defRPr>
            </a:pPr>
            <a:r>
              <a:t>Roles + Entitlements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5212079"/>
            <a:ext cx="3474720" cy="8229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534923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40AF"/>
                </a:solidFill>
                <a:latin typeface="Calibri"/>
              </a:defRPr>
            </a:pPr>
            <a:r>
              <a:t>Governance Kernel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5349239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VCC maps to L2–L5 of Eric Broda's 7-Layer Agentic Mesh Trust 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Layer 1 — Content Extraction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03520" cy="47548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5F46"/>
                </a:solidFill>
                <a:latin typeface="Calibri"/>
              </a:defRPr>
            </a:pPr>
            <a:r>
              <a:t>VCC Scaffold Provides: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47857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  ●  Structured operating model with named elements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  ●  PPIT decomposition → Information Objects = candidate concepts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  ●  Deontic logic (controls, constraints) = candidate policies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  ●  Role-based scoping for card anchoring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  ●  Provenance chain from source documents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303520" cy="47548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Calibri"/>
              </a:defRPr>
            </a:pPr>
            <a:r>
              <a:t>Concept Card — "Customer"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40A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40AF"/>
                </a:solidFill>
              </a:rPr>
              <a:t>Canonical Name: </a:t>
            </a:r>
            <a:r>
              <a:rPr sz="1200">
                <a:solidFill>
                  <a:srgbClr val="334155"/>
                </a:solidFill>
              </a:rPr>
              <a:t>Customer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40AF"/>
                </a:solidFill>
              </a:rPr>
              <a:t>Owner: </a:t>
            </a:r>
            <a:r>
              <a:rPr sz="1200">
                <a:solidFill>
                  <a:srgbClr val="334155"/>
                </a:solidFill>
              </a:rPr>
              <a:t>Sales Operations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40AF"/>
                </a:solidFill>
              </a:rPr>
              <a:t>Sense 1: </a:t>
            </a:r>
            <a:r>
              <a:rPr sz="1200">
                <a:solidFill>
                  <a:srgbClr val="334155"/>
                </a:solidFill>
              </a:rPr>
              <a:t>CRM Buyer — Account holder in Salesforce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40AF"/>
                </a:solidFill>
              </a:rPr>
              <a:t>Sense 2: </a:t>
            </a:r>
            <a:r>
              <a:rPr sz="1200">
                <a:solidFill>
                  <a:srgbClr val="334155"/>
                </a:solidFill>
              </a:rPr>
              <a:t>Service Recipient — Maintenance customer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40AF"/>
                </a:solidFill>
              </a:rPr>
              <a:t>Sense 3: </a:t>
            </a:r>
            <a:r>
              <a:rPr sz="1200">
                <a:solidFill>
                  <a:srgbClr val="334155"/>
                </a:solidFill>
              </a:rPr>
              <a:t>Billing Entity — Invoice recipient in ERP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40AF"/>
                </a:solidFill>
              </a:rPr>
              <a:t>Relationships: </a:t>
            </a:r>
            <a:r>
              <a:rPr sz="1200">
                <a:solidFill>
                  <a:srgbClr val="334155"/>
                </a:solidFill>
              </a:rPr>
              <a:t>has-a Territory, consumes Cartridge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40AF"/>
                </a:solidFill>
              </a:rPr>
              <a:t>Token Budget: </a:t>
            </a:r>
            <a:r>
              <a:rPr sz="1200">
                <a:solidFill>
                  <a:srgbClr val="334155"/>
                </a:solidFill>
              </a:rPr>
              <a:t>450 tokens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Layer 2 — Governance at Consumption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03520" cy="475488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1B1B"/>
                </a:solidFill>
                <a:latin typeface="Calibri"/>
              </a:defRPr>
            </a:pPr>
            <a:r>
              <a:t>VCC Controls → Policy 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91C1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  ●  Controls carry deontic logic: permit, obligate, prohibit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  ●  Constraints define boundary conditions + exception rules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  ●  Authority tiers: Policy → Procedure → Guidance → Workaround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  ●  Action bindings link to system enforcement (escalate / block / log)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  ●  Scope limits by lifecycle stage, role, channel, jurisdiction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303520" cy="475488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1B1B"/>
                </a:solidFill>
                <a:latin typeface="Calibri"/>
              </a:defRPr>
            </a:pPr>
            <a:r>
              <a:t>Policy Card — Territory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43F5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991B1B"/>
                </a:solidFill>
              </a:rPr>
              <a:t>Authority: </a:t>
            </a:r>
            <a:r>
              <a:rPr sz="1200">
                <a:solidFill>
                  <a:srgbClr val="334155"/>
                </a:solidFill>
              </a:rPr>
              <a:t>Policy (highest tier)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991B1B"/>
                </a:solidFill>
              </a:rPr>
              <a:t>Scope: </a:t>
            </a:r>
            <a:r>
              <a:rPr sz="1200">
                <a:solidFill>
                  <a:srgbClr val="334155"/>
                </a:solidFill>
              </a:rPr>
              <a:t>Prospecting, Lead Qualification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991B1B"/>
                </a:solidFill>
              </a:rPr>
              <a:t>Condition: </a:t>
            </a:r>
            <a:r>
              <a:rPr sz="1200">
                <a:solidFill>
                  <a:srgbClr val="334155"/>
                </a:solidFill>
              </a:rPr>
              <a:t>prospect.territory == agent.assignedTerritory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991B1B"/>
                </a:solidFill>
              </a:rPr>
              <a:t>Outcome 1: </a:t>
            </a:r>
            <a:r>
              <a:rPr sz="1200">
                <a:solidFill>
                  <a:srgbClr val="334155"/>
                </a:solidFill>
              </a:rPr>
              <a:t>OBLIGATE: Assign territory before prospecting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991B1B"/>
                </a:solidFill>
              </a:rPr>
              <a:t>Outcome 2: </a:t>
            </a:r>
            <a:r>
              <a:rPr sz="1200">
                <a:solidFill>
                  <a:srgbClr val="334155"/>
                </a:solidFill>
              </a:rPr>
              <a:t>PROHIBIT: Cross-territory without approval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991B1B"/>
                </a:solidFill>
              </a:rPr>
              <a:t>Exception: </a:t>
            </a:r>
            <a:r>
              <a:rPr sz="1200">
                <a:solidFill>
                  <a:srgbClr val="334155"/>
                </a:solidFill>
              </a:rPr>
              <a:t>VP-level override for strategic accounts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991B1B"/>
                </a:solidFill>
              </a:rPr>
              <a:t>On Failure: </a:t>
            </a:r>
            <a:r>
              <a:rPr sz="1200">
                <a:solidFill>
                  <a:srgbClr val="334155"/>
                </a:solidFill>
              </a:rPr>
              <a:t>Escalate → Sales Ops Director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Layer 3 — Orchestration Scaffold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4155"/>
                </a:solidFill>
                <a:latin typeface="Calibri"/>
              </a:defRPr>
            </a:pPr>
            <a:r>
              <a:t>The activity chain tells the Context Compiler WHEN to load WHICH cards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237744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Identify</a:t>
            </a:r>
            <a:br/>
            <a:r>
              <a:t>Prospects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4688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2809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74720"/>
            <a:ext cx="2377440" cy="2011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566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AF"/>
                </a:solidFill>
                <a:latin typeface="Calibri"/>
              </a:defRPr>
            </a:pPr>
            <a:r>
              <a:t>Cards loaded: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4048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cc_prospect</a:t>
            </a:r>
            <a:br/>
            <a:r>
              <a:t>cc_territory</a:t>
            </a:r>
            <a:br/>
            <a:r>
              <a:t>pc_territory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286000"/>
            <a:ext cx="237744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3317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Qualify</a:t>
            </a:r>
            <a:br/>
            <a:r>
              <a:t>Leads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4688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2809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3474720"/>
            <a:ext cx="2377440" cy="2011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3566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AF"/>
                </a:solidFill>
                <a:latin typeface="Calibri"/>
              </a:defRPr>
            </a:pPr>
            <a:r>
              <a:t>Cards loaded: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84048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cc_prospect</a:t>
            </a:r>
            <a:br/>
            <a:r>
              <a:t>cc_customer</a:t>
            </a:r>
            <a:br/>
            <a:r>
              <a:t>pc_data_privacy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286000"/>
            <a:ext cx="237744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3317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Setup</a:t>
            </a:r>
            <a:br/>
            <a:r>
              <a:t>Maintenance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4688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2809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474720"/>
            <a:ext cx="2377440" cy="2011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566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AF"/>
                </a:solidFill>
                <a:latin typeface="Calibri"/>
              </a:defRPr>
            </a:pPr>
            <a:r>
              <a:t>Cards loaded: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84048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cc_maintenance</a:t>
            </a:r>
            <a:br/>
            <a:r>
              <a:t>cc_cartridge</a:t>
            </a:r>
            <a:br/>
            <a:r>
              <a:t>pc_maintenance_sla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2286000"/>
            <a:ext cx="237744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23317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Deliver</a:t>
            </a:r>
            <a:br/>
            <a:r>
              <a:t>Service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3474720"/>
            <a:ext cx="2377440" cy="2011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3566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AF"/>
                </a:solidFill>
                <a:latin typeface="Calibri"/>
              </a:defRPr>
            </a:pPr>
            <a:r>
              <a:t>Cards loaded: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84048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cc_customer</a:t>
            </a:r>
            <a:br/>
            <a:r>
              <a:t>cc_water_quality</a:t>
            </a:r>
            <a:br/>
            <a:r>
              <a:t>pc_escalation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760720"/>
            <a:ext cx="10972800" cy="6400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65F46"/>
                </a:solidFill>
                <a:latin typeface="Calibri"/>
              </a:defRPr>
            </a:pPr>
            <a:r>
              <a:t>Each step in the value stream compiles a different card set — no global context dump, just what's needed now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28090"/>
                </a:solidFill>
                <a:latin typeface="Calibri"/>
              </a:defRPr>
            </a:pPr>
            <a:r>
              <a:t>Live Demo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What you'll see in VCC: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●  C / P toggle buttons in the toolbar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●  Card count badges on each stage (3C, 2P)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●  Click to open 480px Card Panel sidebar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●  Concept Cards: senses, disambiguation cues, token budgets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●  Policy Cards: authority tiers, conditions, outcomes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●  Cards anchored to capabilities, roles, and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Roadmap: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  ▸  Card generation pipeline from scaffold analysis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  ▸  Context Compiler API integration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  ▸  Token budget optimization per activity step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  ▸  Governance Kernel output gate evaluation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  ▸  Card version control and provenance tracking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  ▸  Multi-agent orchestration with VCC scaffold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Calibri"/>
              </a:defRPr>
            </a:pPr>
            <a:r>
              <a:t>Value Cognition Canvas — Enabling Trustworthy Agentic AI Through Structured Operating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